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410"/>
    <p:restoredTop sz="94610"/>
  </p:normalViewPr>
  <p:slideViewPr>
    <p:cSldViewPr snapToGrid="0" snapToObjects="1">
      <p:cViewPr varScale="1">
        <p:scale>
          <a:sx n="200" d="100"/>
          <a:sy n="200" d="100"/>
        </p:scale>
        <p:origin x="168" y="5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550602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B4AF392-D2BF-8CAA-1D33-11FE9294819A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3925062" y="4973320"/>
            <a:ext cx="1311275" cy="10668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PT" sz="700">
                <a:solidFill>
                  <a:srgbClr val="0000FF">
                    <a:alpha val="50000"/>
                  </a:srgbClr>
                </a:solidFill>
                <a:latin typeface="Aptos" panose="020B0004020202020204" pitchFamily="34" charset="0"/>
              </a:rPr>
              <a:t>Classification Level: CTW Internal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C3E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0" y="91440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200" dirty="0">
                <a:solidFill>
                  <a:srgbClr val="000000"/>
                </a:solidFill>
              </a:rPr>
              <a:t>🗄️</a:t>
            </a:r>
            <a:endParaRPr lang="en-US" sz="7200" dirty="0"/>
          </a:p>
        </p:txBody>
      </p:sp>
      <p:sp>
        <p:nvSpPr>
          <p:cNvPr id="3" name="Text 1"/>
          <p:cNvSpPr/>
          <p:nvPr/>
        </p:nvSpPr>
        <p:spPr>
          <a:xfrm>
            <a:off x="914400" y="201168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</a:rPr>
              <a:t>Introduction to Databases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914400" y="27432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5DADE2"/>
                </a:solidFill>
              </a:rPr>
              <a:t>SQL, NoSQL, and Everything In Between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914400" y="34747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</a:rPr>
              <a:t>Understanding Database Engines and When to Use Them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solidFill>
            <a:srgbClr val="2C3E5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</a:rPr>
              <a:t>What is a Database?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C3E50"/>
                </a:solidFill>
              </a:rPr>
              <a:t>A structured way to store, organize, and retrieve data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31520" y="182880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• </a:t>
            </a:r>
            <a:r>
              <a:rPr lang="en-US" sz="1800" b="1" dirty="0">
                <a:solidFill>
                  <a:srgbClr val="000000"/>
                </a:solidFill>
              </a:rPr>
              <a:t>Persistent Storage: </a:t>
            </a:r>
            <a:r>
              <a:rPr lang="en-US" sz="1800" dirty="0">
                <a:solidFill>
                  <a:srgbClr val="000000"/>
                </a:solidFill>
              </a:rPr>
              <a:t>Data survives after program ends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228600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• </a:t>
            </a:r>
            <a:r>
              <a:rPr lang="en-US" sz="1800" b="1" dirty="0">
                <a:solidFill>
                  <a:srgbClr val="000000"/>
                </a:solidFill>
              </a:rPr>
              <a:t>Organized Structure: </a:t>
            </a:r>
            <a:r>
              <a:rPr lang="en-US" sz="1800" dirty="0">
                <a:solidFill>
                  <a:srgbClr val="000000"/>
                </a:solidFill>
              </a:rPr>
              <a:t>Data follows a defined schema or model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• </a:t>
            </a:r>
            <a:r>
              <a:rPr lang="en-US" sz="1800" b="1" dirty="0">
                <a:solidFill>
                  <a:srgbClr val="000000"/>
                </a:solidFill>
              </a:rPr>
              <a:t>Efficient Retrieval: </a:t>
            </a:r>
            <a:r>
              <a:rPr lang="en-US" sz="1800" dirty="0">
                <a:solidFill>
                  <a:srgbClr val="000000"/>
                </a:solidFill>
              </a:rPr>
              <a:t>Query data quickly even with millions of records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320040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• </a:t>
            </a:r>
            <a:r>
              <a:rPr lang="en-US" sz="1800" b="1" dirty="0">
                <a:solidFill>
                  <a:srgbClr val="000000"/>
                </a:solidFill>
              </a:rPr>
              <a:t>Concurrent Access: </a:t>
            </a:r>
            <a:r>
              <a:rPr lang="en-US" sz="1800" dirty="0">
                <a:solidFill>
                  <a:srgbClr val="000000"/>
                </a:solidFill>
              </a:rPr>
              <a:t>Multiple users can read/write simultaneously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" y="365760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• </a:t>
            </a:r>
            <a:r>
              <a:rPr lang="en-US" sz="1800" b="1" dirty="0">
                <a:solidFill>
                  <a:srgbClr val="000000"/>
                </a:solidFill>
              </a:rPr>
              <a:t>Data Integrity: </a:t>
            </a:r>
            <a:r>
              <a:rPr lang="en-US" sz="1800" dirty="0">
                <a:solidFill>
                  <a:srgbClr val="000000"/>
                </a:solidFill>
              </a:rPr>
              <a:t>Rules and constraints keep data consistent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solidFill>
            <a:srgbClr val="2C3E5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</a:rPr>
              <a:t>Why Use Databases?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3931920" cy="3200400"/>
          </a:xfrm>
          <a:prstGeom prst="rect">
            <a:avLst/>
          </a:prstGeom>
          <a:solidFill>
            <a:srgbClr val="ECF0F1"/>
          </a:solidFill>
          <a:ln/>
        </p:spPr>
        <p:txBody>
          <a:bodyPr/>
          <a:lstStyle/>
          <a:p>
            <a:endParaRPr lang="en-PT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❌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64592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C3E50"/>
                </a:solidFill>
              </a:rPr>
              <a:t>Without Databases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2194560"/>
            <a:ext cx="3657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• Files scattered everywhere</a:t>
            </a:r>
            <a:endParaRPr lang="en-US" sz="1400" dirty="0"/>
          </a:p>
          <a:p>
            <a:pPr marL="0" indent="0">
              <a:lnSpc>
                <a:spcPts val="2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• No data validation</a:t>
            </a:r>
            <a:endParaRPr lang="en-US" sz="1400" dirty="0"/>
          </a:p>
          <a:p>
            <a:pPr marL="0" indent="0">
              <a:lnSpc>
                <a:spcPts val="2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• Slow searches</a:t>
            </a:r>
            <a:endParaRPr lang="en-US" sz="1400" dirty="0"/>
          </a:p>
          <a:p>
            <a:pPr marL="0" indent="0">
              <a:lnSpc>
                <a:spcPts val="2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• Data duplication</a:t>
            </a:r>
            <a:endParaRPr lang="en-US" sz="1400" dirty="0"/>
          </a:p>
          <a:p>
            <a:pPr marL="0" indent="0">
              <a:lnSpc>
                <a:spcPts val="2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• Hard to share data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754880" y="1097280"/>
            <a:ext cx="3931920" cy="3200400"/>
          </a:xfrm>
          <a:prstGeom prst="rect">
            <a:avLst/>
          </a:prstGeom>
          <a:solidFill>
            <a:srgbClr val="3498DB"/>
          </a:solidFill>
          <a:ln/>
        </p:spPr>
        <p:txBody>
          <a:bodyPr/>
          <a:lstStyle/>
          <a:p>
            <a:endParaRPr lang="en-PT"/>
          </a:p>
        </p:txBody>
      </p:sp>
      <p:sp>
        <p:nvSpPr>
          <p:cNvPr id="8" name="Text 6"/>
          <p:cNvSpPr/>
          <p:nvPr/>
        </p:nvSpPr>
        <p:spPr>
          <a:xfrm>
            <a:off x="4754880" y="118872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FFFFFF"/>
                </a:solidFill>
              </a:rPr>
              <a:t>✅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4754880" y="164592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With Databases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937760" y="2194560"/>
            <a:ext cx="3657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400" dirty="0">
                <a:solidFill>
                  <a:srgbClr val="FFFFFF"/>
                </a:solidFill>
              </a:rPr>
              <a:t>• Centralized data storage</a:t>
            </a:r>
            <a:endParaRPr lang="en-US" sz="1400" dirty="0"/>
          </a:p>
          <a:p>
            <a:pPr marL="0" indent="0">
              <a:lnSpc>
                <a:spcPts val="2000"/>
              </a:lnSpc>
              <a:buNone/>
            </a:pPr>
            <a:r>
              <a:rPr lang="en-US" sz="1400" dirty="0">
                <a:solidFill>
                  <a:srgbClr val="FFFFFF"/>
                </a:solidFill>
              </a:rPr>
              <a:t>• Data integrity rules</a:t>
            </a:r>
            <a:endParaRPr lang="en-US" sz="1400" dirty="0"/>
          </a:p>
          <a:p>
            <a:pPr marL="0" indent="0">
              <a:lnSpc>
                <a:spcPts val="2000"/>
              </a:lnSpc>
              <a:buNone/>
            </a:pPr>
            <a:r>
              <a:rPr lang="en-US" sz="1400" dirty="0">
                <a:solidFill>
                  <a:srgbClr val="FFFFFF"/>
                </a:solidFill>
              </a:rPr>
              <a:t>• Fast indexed searches</a:t>
            </a:r>
            <a:endParaRPr lang="en-US" sz="1400" dirty="0"/>
          </a:p>
          <a:p>
            <a:pPr marL="0" indent="0">
              <a:lnSpc>
                <a:spcPts val="2000"/>
              </a:lnSpc>
              <a:buNone/>
            </a:pPr>
            <a:r>
              <a:rPr lang="en-US" sz="1400" dirty="0">
                <a:solidFill>
                  <a:srgbClr val="FFFFFF"/>
                </a:solidFill>
              </a:rPr>
              <a:t>• Single source of truth</a:t>
            </a:r>
            <a:endParaRPr lang="en-US" sz="1400" dirty="0"/>
          </a:p>
          <a:p>
            <a:pPr marL="0" indent="0">
              <a:lnSpc>
                <a:spcPts val="2000"/>
              </a:lnSpc>
              <a:buNone/>
            </a:pPr>
            <a:r>
              <a:rPr lang="en-US" sz="1400" dirty="0">
                <a:solidFill>
                  <a:srgbClr val="FFFFFF"/>
                </a:solidFill>
              </a:rPr>
              <a:t>• Multi-user access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solidFill>
            <a:srgbClr val="2C3E5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</a:rPr>
              <a:t>Types of Databases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188720"/>
            <a:ext cx="3657600" cy="1371600"/>
          </a:xfrm>
          <a:prstGeom prst="rect">
            <a:avLst/>
          </a:prstGeom>
          <a:solidFill>
            <a:srgbClr val="27AE60"/>
          </a:solidFill>
          <a:ln/>
        </p:spPr>
        <p:txBody>
          <a:bodyPr/>
          <a:lstStyle/>
          <a:p>
            <a:endParaRPr lang="en-PT"/>
          </a:p>
        </p:txBody>
      </p:sp>
      <p:sp>
        <p:nvSpPr>
          <p:cNvPr id="4" name="Text 2"/>
          <p:cNvSpPr/>
          <p:nvPr/>
        </p:nvSpPr>
        <p:spPr>
          <a:xfrm>
            <a:off x="640080" y="12801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SQL (Relational)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40080" y="17373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</a:rPr>
              <a:t>Structured tables with relationships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21031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</a:rPr>
              <a:t>PostgreSQL, MySQL, Oracle, DuckDB, SQLite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846320" y="1188720"/>
            <a:ext cx="3657600" cy="1371600"/>
          </a:xfrm>
          <a:prstGeom prst="rect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en-PT"/>
          </a:p>
        </p:txBody>
      </p:sp>
      <p:sp>
        <p:nvSpPr>
          <p:cNvPr id="8" name="Text 6"/>
          <p:cNvSpPr/>
          <p:nvPr/>
        </p:nvSpPr>
        <p:spPr>
          <a:xfrm>
            <a:off x="4846320" y="12801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NoSQL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4846320" y="17373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</a:rPr>
              <a:t>Flexible, non-relational storage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846320" y="21031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</a:rPr>
              <a:t>Document, Key-Value, Column-Family, Graph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1371600" y="3017520"/>
            <a:ext cx="6400800" cy="731520"/>
          </a:xfrm>
          <a:prstGeom prst="rect">
            <a:avLst/>
          </a:prstGeom>
          <a:solidFill>
            <a:srgbClr val="ECF0F1"/>
          </a:solidFill>
          <a:ln/>
        </p:spPr>
        <p:txBody>
          <a:bodyPr/>
          <a:lstStyle/>
          <a:p>
            <a:endParaRPr lang="en-PT"/>
          </a:p>
        </p:txBody>
      </p:sp>
      <p:sp>
        <p:nvSpPr>
          <p:cNvPr id="12" name="Text 10"/>
          <p:cNvSpPr/>
          <p:nvPr/>
        </p:nvSpPr>
        <p:spPr>
          <a:xfrm>
            <a:off x="1371600" y="310896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C3E50"/>
                </a:solidFill>
              </a:rPr>
              <a:t>Each type solves different problems!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solidFill>
            <a:srgbClr val="2C3E5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</a:rPr>
              <a:t>Relational Databases (SQL)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C3E50"/>
                </a:solidFill>
              </a:rPr>
              <a:t>Key Characteristics: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22960" y="1554480"/>
            <a:ext cx="45720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600" dirty="0">
                <a:solidFill>
                  <a:srgbClr val="000000"/>
                </a:solidFill>
              </a:rPr>
              <a:t>• Tables: Data organized in rows and columns</a:t>
            </a:r>
            <a:endParaRPr lang="en-US" sz="1600" dirty="0"/>
          </a:p>
          <a:p>
            <a:pPr marL="0" indent="0">
              <a:lnSpc>
                <a:spcPts val="2200"/>
              </a:lnSpc>
              <a:buNone/>
            </a:pPr>
            <a:r>
              <a:rPr lang="en-US" sz="1600" dirty="0">
                <a:solidFill>
                  <a:srgbClr val="000000"/>
                </a:solidFill>
              </a:rPr>
              <a:t>• Schema: Fixed structure defined upfront</a:t>
            </a:r>
            <a:endParaRPr lang="en-US" sz="1600" dirty="0"/>
          </a:p>
          <a:p>
            <a:pPr marL="0" indent="0">
              <a:lnSpc>
                <a:spcPts val="2200"/>
              </a:lnSpc>
              <a:buNone/>
            </a:pPr>
            <a:r>
              <a:rPr lang="en-US" sz="1600" dirty="0">
                <a:solidFill>
                  <a:srgbClr val="000000"/>
                </a:solidFill>
              </a:rPr>
              <a:t>• Relationships: Tables linked via foreign keys</a:t>
            </a:r>
            <a:endParaRPr lang="en-US" sz="1600" dirty="0"/>
          </a:p>
          <a:p>
            <a:pPr marL="0" indent="0">
              <a:lnSpc>
                <a:spcPts val="2200"/>
              </a:lnSpc>
              <a:buNone/>
            </a:pPr>
            <a:r>
              <a:rPr lang="en-US" sz="1600" dirty="0">
                <a:solidFill>
                  <a:srgbClr val="000000"/>
                </a:solidFill>
              </a:rPr>
              <a:t>• ACID: Transactions are reliable and consistent</a:t>
            </a:r>
            <a:endParaRPr lang="en-US" sz="1600" dirty="0"/>
          </a:p>
          <a:p>
            <a:pPr marL="0" indent="0">
              <a:lnSpc>
                <a:spcPts val="2200"/>
              </a:lnSpc>
              <a:buNone/>
            </a:pPr>
            <a:r>
              <a:rPr lang="en-US" sz="1600" dirty="0">
                <a:solidFill>
                  <a:srgbClr val="000000"/>
                </a:solidFill>
              </a:rPr>
              <a:t>• SQL Language: Standard query language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0" y="1097280"/>
            <a:ext cx="3017520" cy="2743200"/>
          </a:xfrm>
          <a:prstGeom prst="rect">
            <a:avLst/>
          </a:prstGeom>
          <a:solidFill>
            <a:srgbClr val="ECF0F1"/>
          </a:solidFill>
          <a:ln/>
        </p:spPr>
        <p:txBody>
          <a:bodyPr/>
          <a:lstStyle/>
          <a:p>
            <a:endParaRPr lang="en-PT"/>
          </a:p>
        </p:txBody>
      </p:sp>
      <p:sp>
        <p:nvSpPr>
          <p:cNvPr id="6" name="Text 4"/>
          <p:cNvSpPr/>
          <p:nvPr/>
        </p:nvSpPr>
        <p:spPr>
          <a:xfrm>
            <a:off x="5486400" y="118872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C3E50"/>
                </a:solidFill>
              </a:rPr>
              <a:t>Example: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669280" y="1645920"/>
            <a:ext cx="27432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trips table: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• trip_id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• pickup_time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• fare_amount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zones table: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• zone_id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• zone_name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solidFill>
            <a:srgbClr val="2C3E5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</a:rPr>
              <a:t>SQL Database Engines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2743200" cy="914400"/>
          </a:xfrm>
          <a:prstGeom prst="rect">
            <a:avLst/>
          </a:prstGeom>
          <a:solidFill>
            <a:srgbClr val="ECF0F1"/>
          </a:solidFill>
          <a:ln/>
        </p:spPr>
        <p:txBody>
          <a:bodyPr/>
          <a:lstStyle/>
          <a:p>
            <a:endParaRPr lang="en-PT"/>
          </a:p>
        </p:txBody>
      </p:sp>
      <p:sp>
        <p:nvSpPr>
          <p:cNvPr id="4" name="Text 2"/>
          <p:cNvSpPr/>
          <p:nvPr/>
        </p:nvSpPr>
        <p:spPr>
          <a:xfrm>
            <a:off x="457200" y="12344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C3E50"/>
                </a:solidFill>
              </a:rPr>
              <a:t>PostgreSQL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155448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0000"/>
                </a:solidFill>
              </a:rPr>
              <a:t>Full-featured, production-grade, supports complex queries and JSON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383280" y="1188720"/>
            <a:ext cx="2743200" cy="914400"/>
          </a:xfrm>
          <a:prstGeom prst="rect">
            <a:avLst/>
          </a:prstGeom>
          <a:solidFill>
            <a:srgbClr val="ECF0F1"/>
          </a:solidFill>
          <a:ln/>
        </p:spPr>
        <p:txBody>
          <a:bodyPr/>
          <a:lstStyle/>
          <a:p>
            <a:endParaRPr lang="en-PT"/>
          </a:p>
        </p:txBody>
      </p:sp>
      <p:sp>
        <p:nvSpPr>
          <p:cNvPr id="7" name="Text 5"/>
          <p:cNvSpPr/>
          <p:nvPr/>
        </p:nvSpPr>
        <p:spPr>
          <a:xfrm>
            <a:off x="3383280" y="12344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C3E50"/>
                </a:solidFill>
              </a:rPr>
              <a:t>MySQL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474720" y="155448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0000"/>
                </a:solidFill>
              </a:rPr>
              <a:t>Popular, fast, web applications, good for read-heavy workloads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309360" y="1188720"/>
            <a:ext cx="2743200" cy="914400"/>
          </a:xfrm>
          <a:prstGeom prst="rect">
            <a:avLst/>
          </a:prstGeom>
          <a:solidFill>
            <a:srgbClr val="ECF0F1"/>
          </a:solidFill>
          <a:ln/>
        </p:spPr>
        <p:txBody>
          <a:bodyPr/>
          <a:lstStyle/>
          <a:p>
            <a:endParaRPr lang="en-PT"/>
          </a:p>
        </p:txBody>
      </p:sp>
      <p:sp>
        <p:nvSpPr>
          <p:cNvPr id="10" name="Text 8"/>
          <p:cNvSpPr/>
          <p:nvPr/>
        </p:nvSpPr>
        <p:spPr>
          <a:xfrm>
            <a:off x="6309360" y="12344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C3E50"/>
                </a:solidFill>
              </a:rPr>
              <a:t>SQLite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00800" y="155448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0000"/>
                </a:solidFill>
              </a:rPr>
              <a:t>Embedded, serverless, perfect for mobile apps and small projects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194560"/>
            <a:ext cx="2743200" cy="914400"/>
          </a:xfrm>
          <a:prstGeom prst="rect">
            <a:avLst/>
          </a:prstGeom>
          <a:solidFill>
            <a:srgbClr val="ECF0F1"/>
          </a:solidFill>
          <a:ln/>
        </p:spPr>
        <p:txBody>
          <a:bodyPr/>
          <a:lstStyle/>
          <a:p>
            <a:endParaRPr lang="en-PT"/>
          </a:p>
        </p:txBody>
      </p:sp>
      <p:sp>
        <p:nvSpPr>
          <p:cNvPr id="13" name="Text 11"/>
          <p:cNvSpPr/>
          <p:nvPr/>
        </p:nvSpPr>
        <p:spPr>
          <a:xfrm>
            <a:off x="457200" y="22402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C3E50"/>
                </a:solidFill>
              </a:rPr>
              <a:t>DuckDB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48640" y="256032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0000"/>
                </a:solidFill>
              </a:rPr>
              <a:t>Analytical queries, columnar storage, perfect for data analysis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383280" y="2194560"/>
            <a:ext cx="2743200" cy="914400"/>
          </a:xfrm>
          <a:prstGeom prst="rect">
            <a:avLst/>
          </a:prstGeom>
          <a:solidFill>
            <a:srgbClr val="ECF0F1"/>
          </a:solidFill>
          <a:ln/>
        </p:spPr>
        <p:txBody>
          <a:bodyPr/>
          <a:lstStyle/>
          <a:p>
            <a:endParaRPr lang="en-PT"/>
          </a:p>
        </p:txBody>
      </p:sp>
      <p:sp>
        <p:nvSpPr>
          <p:cNvPr id="16" name="Text 14"/>
          <p:cNvSpPr/>
          <p:nvPr/>
        </p:nvSpPr>
        <p:spPr>
          <a:xfrm>
            <a:off x="3383280" y="22402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C3E50"/>
                </a:solidFill>
              </a:rPr>
              <a:t>Oracle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474720" y="256032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0000"/>
                </a:solidFill>
              </a:rPr>
              <a:t>Enterprise, high-performance, extensive features, expensive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309360" y="2194560"/>
            <a:ext cx="2743200" cy="914400"/>
          </a:xfrm>
          <a:prstGeom prst="rect">
            <a:avLst/>
          </a:prstGeom>
          <a:solidFill>
            <a:srgbClr val="ECF0F1"/>
          </a:solidFill>
          <a:ln/>
        </p:spPr>
        <p:txBody>
          <a:bodyPr/>
          <a:lstStyle/>
          <a:p>
            <a:endParaRPr lang="en-PT"/>
          </a:p>
        </p:txBody>
      </p:sp>
      <p:sp>
        <p:nvSpPr>
          <p:cNvPr id="19" name="Text 17"/>
          <p:cNvSpPr/>
          <p:nvPr/>
        </p:nvSpPr>
        <p:spPr>
          <a:xfrm>
            <a:off x="6309360" y="22402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C3E50"/>
                </a:solidFill>
              </a:rPr>
              <a:t>SQL Server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400800" y="256032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0000"/>
                </a:solidFill>
              </a:rPr>
              <a:t>Microsoft ecosystem, enterprise, good tooling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solidFill>
            <a:srgbClr val="2C3E5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</a:rPr>
              <a:t>NoSQL Databases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0584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C3E50"/>
                </a:solidFill>
              </a:rPr>
              <a:t>NoSQL = "Not Only SQL" - Flexible, schema-less databases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3657600" cy="1097280"/>
          </a:xfrm>
          <a:prstGeom prst="rect">
            <a:avLst/>
          </a:prstGeom>
          <a:solidFill>
            <a:srgbClr val="ECF0F1"/>
          </a:solidFill>
          <a:ln/>
        </p:spPr>
        <p:txBody>
          <a:bodyPr/>
          <a:lstStyle/>
          <a:p>
            <a:endParaRPr lang="en-PT"/>
          </a:p>
        </p:txBody>
      </p:sp>
      <p:sp>
        <p:nvSpPr>
          <p:cNvPr id="5" name="Text 3"/>
          <p:cNvSpPr/>
          <p:nvPr/>
        </p:nvSpPr>
        <p:spPr>
          <a:xfrm>
            <a:off x="640080" y="17373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C3E50"/>
                </a:solidFill>
              </a:rPr>
              <a:t>📄 Document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205740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0000"/>
                </a:solidFill>
              </a:rPr>
              <a:t>Store JSON-like documents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23317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66666"/>
                </a:solidFill>
              </a:rPr>
              <a:t>MongoDB, CouchDB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0" y="1645920"/>
            <a:ext cx="3657600" cy="1097280"/>
          </a:xfrm>
          <a:prstGeom prst="rect">
            <a:avLst/>
          </a:prstGeom>
          <a:solidFill>
            <a:srgbClr val="ECF0F1"/>
          </a:solidFill>
          <a:ln/>
        </p:spPr>
        <p:txBody>
          <a:bodyPr/>
          <a:lstStyle/>
          <a:p>
            <a:endParaRPr lang="en-PT"/>
          </a:p>
        </p:txBody>
      </p:sp>
      <p:sp>
        <p:nvSpPr>
          <p:cNvPr id="9" name="Text 7"/>
          <p:cNvSpPr/>
          <p:nvPr/>
        </p:nvSpPr>
        <p:spPr>
          <a:xfrm>
            <a:off x="4572000" y="17373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C3E50"/>
                </a:solidFill>
              </a:rPr>
              <a:t>🔑 Key-Value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572000" y="205740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0000"/>
                </a:solidFill>
              </a:rPr>
              <a:t>Simple key → value pairs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0" y="23317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66666"/>
                </a:solidFill>
              </a:rPr>
              <a:t>Redis, DynamoDB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40080" y="2834640"/>
            <a:ext cx="3657600" cy="1097280"/>
          </a:xfrm>
          <a:prstGeom prst="rect">
            <a:avLst/>
          </a:prstGeom>
          <a:solidFill>
            <a:srgbClr val="ECF0F1"/>
          </a:solidFill>
          <a:ln/>
        </p:spPr>
        <p:txBody>
          <a:bodyPr/>
          <a:lstStyle/>
          <a:p>
            <a:endParaRPr lang="en-PT"/>
          </a:p>
        </p:txBody>
      </p:sp>
      <p:sp>
        <p:nvSpPr>
          <p:cNvPr id="13" name="Text 11"/>
          <p:cNvSpPr/>
          <p:nvPr/>
        </p:nvSpPr>
        <p:spPr>
          <a:xfrm>
            <a:off x="640080" y="29260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C3E50"/>
                </a:solidFill>
              </a:rPr>
              <a:t>📊 Column-Family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40080" y="324612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0000"/>
                </a:solidFill>
              </a:rPr>
              <a:t>Wide columns, scalable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0080" y="35204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66666"/>
                </a:solidFill>
              </a:rPr>
              <a:t>Cassandra, HBase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0" y="2834640"/>
            <a:ext cx="3657600" cy="1097280"/>
          </a:xfrm>
          <a:prstGeom prst="rect">
            <a:avLst/>
          </a:prstGeom>
          <a:solidFill>
            <a:srgbClr val="ECF0F1"/>
          </a:solidFill>
          <a:ln/>
        </p:spPr>
        <p:txBody>
          <a:bodyPr/>
          <a:lstStyle/>
          <a:p>
            <a:endParaRPr lang="en-PT"/>
          </a:p>
        </p:txBody>
      </p:sp>
      <p:sp>
        <p:nvSpPr>
          <p:cNvPr id="17" name="Text 15"/>
          <p:cNvSpPr/>
          <p:nvPr/>
        </p:nvSpPr>
        <p:spPr>
          <a:xfrm>
            <a:off x="4572000" y="29260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C3E50"/>
                </a:solidFill>
              </a:rPr>
              <a:t>🕸️ Graph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572000" y="324612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0000"/>
                </a:solidFill>
              </a:rPr>
              <a:t>Nodes and relationships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572000" y="35204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66666"/>
                </a:solidFill>
              </a:rPr>
              <a:t>Neo4j, ArangoDB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solidFill>
            <a:srgbClr val="2C3E5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</a:rPr>
              <a:t>SQL vs NoSQL: Key Differences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2103120" y="1097280"/>
            <a:ext cx="2743200" cy="365760"/>
          </a:xfrm>
          <a:prstGeom prst="rect">
            <a:avLst/>
          </a:prstGeom>
          <a:solidFill>
            <a:srgbClr val="27AE60"/>
          </a:solidFill>
          <a:ln/>
        </p:spPr>
        <p:txBody>
          <a:bodyPr/>
          <a:lstStyle/>
          <a:p>
            <a:endParaRPr lang="en-PT"/>
          </a:p>
        </p:txBody>
      </p:sp>
      <p:sp>
        <p:nvSpPr>
          <p:cNvPr id="4" name="Text 2"/>
          <p:cNvSpPr/>
          <p:nvPr/>
        </p:nvSpPr>
        <p:spPr>
          <a:xfrm>
            <a:off x="2103120" y="10972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SQL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029200" y="1097280"/>
            <a:ext cx="2743200" cy="365760"/>
          </a:xfrm>
          <a:prstGeom prst="rect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en-PT"/>
          </a:p>
        </p:txBody>
      </p:sp>
      <p:sp>
        <p:nvSpPr>
          <p:cNvPr id="6" name="Text 4"/>
          <p:cNvSpPr/>
          <p:nvPr/>
        </p:nvSpPr>
        <p:spPr>
          <a:xfrm>
            <a:off x="5029200" y="10972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NoSQL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554480"/>
            <a:ext cx="1463040" cy="393192"/>
          </a:xfrm>
          <a:prstGeom prst="rect">
            <a:avLst/>
          </a:prstGeom>
          <a:solidFill>
            <a:srgbClr val="ECF0F1"/>
          </a:solidFill>
          <a:ln/>
        </p:spPr>
        <p:txBody>
          <a:bodyPr/>
          <a:lstStyle/>
          <a:p>
            <a:endParaRPr lang="en-PT"/>
          </a:p>
        </p:txBody>
      </p:sp>
      <p:sp>
        <p:nvSpPr>
          <p:cNvPr id="8" name="Text 6"/>
          <p:cNvSpPr/>
          <p:nvPr/>
        </p:nvSpPr>
        <p:spPr>
          <a:xfrm>
            <a:off x="502920" y="1600200"/>
            <a:ext cx="13716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0000"/>
                </a:solidFill>
              </a:rPr>
              <a:t>Schema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103120" y="1554480"/>
            <a:ext cx="2743200" cy="393192"/>
          </a:xfrm>
          <a:prstGeom prst="rect">
            <a:avLst/>
          </a:prstGeom>
          <a:solidFill>
            <a:srgbClr val="ECF0F1"/>
          </a:solidFill>
          <a:ln/>
        </p:spPr>
        <p:txBody>
          <a:bodyPr/>
          <a:lstStyle/>
          <a:p>
            <a:endParaRPr lang="en-PT"/>
          </a:p>
        </p:txBody>
      </p:sp>
      <p:sp>
        <p:nvSpPr>
          <p:cNvPr id="10" name="Text 8"/>
          <p:cNvSpPr/>
          <p:nvPr/>
        </p:nvSpPr>
        <p:spPr>
          <a:xfrm>
            <a:off x="2194560" y="1600200"/>
            <a:ext cx="25603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</a:rPr>
              <a:t>Fixed, predefined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029200" y="1554480"/>
            <a:ext cx="2743200" cy="393192"/>
          </a:xfrm>
          <a:prstGeom prst="rect">
            <a:avLst/>
          </a:prstGeom>
          <a:solidFill>
            <a:srgbClr val="ECF0F1"/>
          </a:solidFill>
          <a:ln/>
        </p:spPr>
        <p:txBody>
          <a:bodyPr/>
          <a:lstStyle/>
          <a:p>
            <a:endParaRPr lang="en-PT"/>
          </a:p>
        </p:txBody>
      </p:sp>
      <p:sp>
        <p:nvSpPr>
          <p:cNvPr id="12" name="Text 10"/>
          <p:cNvSpPr/>
          <p:nvPr/>
        </p:nvSpPr>
        <p:spPr>
          <a:xfrm>
            <a:off x="5120640" y="1600200"/>
            <a:ext cx="25603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</a:rPr>
              <a:t>Flexible, dynamic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1993392"/>
            <a:ext cx="1463040" cy="393192"/>
          </a:xfrm>
          <a:prstGeom prst="rect">
            <a:avLst/>
          </a:prstGeom>
          <a:solidFill>
            <a:srgbClr val="ECF0F1"/>
          </a:solidFill>
          <a:ln/>
        </p:spPr>
        <p:txBody>
          <a:bodyPr/>
          <a:lstStyle/>
          <a:p>
            <a:endParaRPr lang="en-PT"/>
          </a:p>
        </p:txBody>
      </p:sp>
      <p:sp>
        <p:nvSpPr>
          <p:cNvPr id="14" name="Text 12"/>
          <p:cNvSpPr/>
          <p:nvPr/>
        </p:nvSpPr>
        <p:spPr>
          <a:xfrm>
            <a:off x="502920" y="2039112"/>
            <a:ext cx="13716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0000"/>
                </a:solidFill>
              </a:rPr>
              <a:t>Structure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103120" y="1993392"/>
            <a:ext cx="2743200" cy="393192"/>
          </a:xfrm>
          <a:prstGeom prst="rect">
            <a:avLst/>
          </a:prstGeom>
          <a:solidFill>
            <a:srgbClr val="ECF0F1"/>
          </a:solidFill>
          <a:ln/>
        </p:spPr>
        <p:txBody>
          <a:bodyPr/>
          <a:lstStyle/>
          <a:p>
            <a:endParaRPr lang="en-PT"/>
          </a:p>
        </p:txBody>
      </p:sp>
      <p:sp>
        <p:nvSpPr>
          <p:cNvPr id="16" name="Text 14"/>
          <p:cNvSpPr/>
          <p:nvPr/>
        </p:nvSpPr>
        <p:spPr>
          <a:xfrm>
            <a:off x="2194560" y="2039112"/>
            <a:ext cx="25603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</a:rPr>
              <a:t>Tables with rows/columns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029200" y="1993392"/>
            <a:ext cx="2743200" cy="393192"/>
          </a:xfrm>
          <a:prstGeom prst="rect">
            <a:avLst/>
          </a:prstGeom>
          <a:solidFill>
            <a:srgbClr val="ECF0F1"/>
          </a:solidFill>
          <a:ln/>
        </p:spPr>
        <p:txBody>
          <a:bodyPr/>
          <a:lstStyle/>
          <a:p>
            <a:endParaRPr lang="en-PT"/>
          </a:p>
        </p:txBody>
      </p:sp>
      <p:sp>
        <p:nvSpPr>
          <p:cNvPr id="18" name="Text 16"/>
          <p:cNvSpPr/>
          <p:nvPr/>
        </p:nvSpPr>
        <p:spPr>
          <a:xfrm>
            <a:off x="5120640" y="2039112"/>
            <a:ext cx="25603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</a:rPr>
              <a:t>Documents, key-value, etc.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2432304"/>
            <a:ext cx="1463040" cy="393192"/>
          </a:xfrm>
          <a:prstGeom prst="rect">
            <a:avLst/>
          </a:prstGeom>
          <a:solidFill>
            <a:srgbClr val="ECF0F1"/>
          </a:solidFill>
          <a:ln/>
        </p:spPr>
        <p:txBody>
          <a:bodyPr/>
          <a:lstStyle/>
          <a:p>
            <a:endParaRPr lang="en-PT"/>
          </a:p>
        </p:txBody>
      </p:sp>
      <p:sp>
        <p:nvSpPr>
          <p:cNvPr id="20" name="Text 18"/>
          <p:cNvSpPr/>
          <p:nvPr/>
        </p:nvSpPr>
        <p:spPr>
          <a:xfrm>
            <a:off x="502920" y="2478024"/>
            <a:ext cx="13716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0000"/>
                </a:solidFill>
              </a:rPr>
              <a:t>Scaling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103120" y="2432304"/>
            <a:ext cx="2743200" cy="393192"/>
          </a:xfrm>
          <a:prstGeom prst="rect">
            <a:avLst/>
          </a:prstGeom>
          <a:solidFill>
            <a:srgbClr val="ECF0F1"/>
          </a:solidFill>
          <a:ln/>
        </p:spPr>
        <p:txBody>
          <a:bodyPr/>
          <a:lstStyle/>
          <a:p>
            <a:endParaRPr lang="en-PT"/>
          </a:p>
        </p:txBody>
      </p:sp>
      <p:sp>
        <p:nvSpPr>
          <p:cNvPr id="22" name="Text 20"/>
          <p:cNvSpPr/>
          <p:nvPr/>
        </p:nvSpPr>
        <p:spPr>
          <a:xfrm>
            <a:off x="2194560" y="2478024"/>
            <a:ext cx="25603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</a:rPr>
              <a:t>Vertical (bigger server)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029200" y="2432304"/>
            <a:ext cx="2743200" cy="393192"/>
          </a:xfrm>
          <a:prstGeom prst="rect">
            <a:avLst/>
          </a:prstGeom>
          <a:solidFill>
            <a:srgbClr val="ECF0F1"/>
          </a:solidFill>
          <a:ln/>
        </p:spPr>
        <p:txBody>
          <a:bodyPr/>
          <a:lstStyle/>
          <a:p>
            <a:endParaRPr lang="en-PT"/>
          </a:p>
        </p:txBody>
      </p:sp>
      <p:sp>
        <p:nvSpPr>
          <p:cNvPr id="24" name="Text 22"/>
          <p:cNvSpPr/>
          <p:nvPr/>
        </p:nvSpPr>
        <p:spPr>
          <a:xfrm>
            <a:off x="5120640" y="2478024"/>
            <a:ext cx="25603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</a:rPr>
              <a:t>Horizontal (more servers)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57200" y="2871216"/>
            <a:ext cx="1463040" cy="393192"/>
          </a:xfrm>
          <a:prstGeom prst="rect">
            <a:avLst/>
          </a:prstGeom>
          <a:solidFill>
            <a:srgbClr val="ECF0F1"/>
          </a:solidFill>
          <a:ln/>
        </p:spPr>
        <p:txBody>
          <a:bodyPr/>
          <a:lstStyle/>
          <a:p>
            <a:endParaRPr lang="en-PT"/>
          </a:p>
        </p:txBody>
      </p:sp>
      <p:sp>
        <p:nvSpPr>
          <p:cNvPr id="26" name="Text 24"/>
          <p:cNvSpPr/>
          <p:nvPr/>
        </p:nvSpPr>
        <p:spPr>
          <a:xfrm>
            <a:off x="502920" y="2916936"/>
            <a:ext cx="13716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0000"/>
                </a:solidFill>
              </a:rPr>
              <a:t>Transactions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2103120" y="2871216"/>
            <a:ext cx="2743200" cy="393192"/>
          </a:xfrm>
          <a:prstGeom prst="rect">
            <a:avLst/>
          </a:prstGeom>
          <a:solidFill>
            <a:srgbClr val="ECF0F1"/>
          </a:solidFill>
          <a:ln/>
        </p:spPr>
        <p:txBody>
          <a:bodyPr/>
          <a:lstStyle/>
          <a:p>
            <a:endParaRPr lang="en-PT"/>
          </a:p>
        </p:txBody>
      </p:sp>
      <p:sp>
        <p:nvSpPr>
          <p:cNvPr id="28" name="Text 26"/>
          <p:cNvSpPr/>
          <p:nvPr/>
        </p:nvSpPr>
        <p:spPr>
          <a:xfrm>
            <a:off x="2194560" y="2916936"/>
            <a:ext cx="25603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</a:rPr>
              <a:t>ACID guaranteed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029200" y="2871216"/>
            <a:ext cx="2743200" cy="393192"/>
          </a:xfrm>
          <a:prstGeom prst="rect">
            <a:avLst/>
          </a:prstGeom>
          <a:solidFill>
            <a:srgbClr val="ECF0F1"/>
          </a:solidFill>
          <a:ln/>
        </p:spPr>
        <p:txBody>
          <a:bodyPr/>
          <a:lstStyle/>
          <a:p>
            <a:endParaRPr lang="en-PT"/>
          </a:p>
        </p:txBody>
      </p:sp>
      <p:sp>
        <p:nvSpPr>
          <p:cNvPr id="30" name="Text 28"/>
          <p:cNvSpPr/>
          <p:nvPr/>
        </p:nvSpPr>
        <p:spPr>
          <a:xfrm>
            <a:off x="5120640" y="2916936"/>
            <a:ext cx="25603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</a:rPr>
              <a:t>Eventually consistent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57200" y="3310128"/>
            <a:ext cx="1463040" cy="393192"/>
          </a:xfrm>
          <a:prstGeom prst="rect">
            <a:avLst/>
          </a:prstGeom>
          <a:solidFill>
            <a:srgbClr val="ECF0F1"/>
          </a:solidFill>
          <a:ln/>
        </p:spPr>
        <p:txBody>
          <a:bodyPr/>
          <a:lstStyle/>
          <a:p>
            <a:endParaRPr lang="en-PT"/>
          </a:p>
        </p:txBody>
      </p:sp>
      <p:sp>
        <p:nvSpPr>
          <p:cNvPr id="32" name="Text 30"/>
          <p:cNvSpPr/>
          <p:nvPr/>
        </p:nvSpPr>
        <p:spPr>
          <a:xfrm>
            <a:off x="502920" y="3355848"/>
            <a:ext cx="13716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0000"/>
                </a:solidFill>
              </a:rPr>
              <a:t>Relationships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2103120" y="3310128"/>
            <a:ext cx="2743200" cy="393192"/>
          </a:xfrm>
          <a:prstGeom prst="rect">
            <a:avLst/>
          </a:prstGeom>
          <a:solidFill>
            <a:srgbClr val="ECF0F1"/>
          </a:solidFill>
          <a:ln/>
        </p:spPr>
        <p:txBody>
          <a:bodyPr/>
          <a:lstStyle/>
          <a:p>
            <a:endParaRPr lang="en-PT"/>
          </a:p>
        </p:txBody>
      </p:sp>
      <p:sp>
        <p:nvSpPr>
          <p:cNvPr id="34" name="Text 32"/>
          <p:cNvSpPr/>
          <p:nvPr/>
        </p:nvSpPr>
        <p:spPr>
          <a:xfrm>
            <a:off x="2194560" y="3355848"/>
            <a:ext cx="25603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</a:rPr>
              <a:t>JOINs between tables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5029200" y="3310128"/>
            <a:ext cx="2743200" cy="393192"/>
          </a:xfrm>
          <a:prstGeom prst="rect">
            <a:avLst/>
          </a:prstGeom>
          <a:solidFill>
            <a:srgbClr val="ECF0F1"/>
          </a:solidFill>
          <a:ln/>
        </p:spPr>
        <p:txBody>
          <a:bodyPr/>
          <a:lstStyle/>
          <a:p>
            <a:endParaRPr lang="en-PT"/>
          </a:p>
        </p:txBody>
      </p:sp>
      <p:sp>
        <p:nvSpPr>
          <p:cNvPr id="36" name="Text 34"/>
          <p:cNvSpPr/>
          <p:nvPr/>
        </p:nvSpPr>
        <p:spPr>
          <a:xfrm>
            <a:off x="5120640" y="3355848"/>
            <a:ext cx="25603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</a:rPr>
              <a:t>Embedded or references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57200" y="3749040"/>
            <a:ext cx="1463040" cy="393192"/>
          </a:xfrm>
          <a:prstGeom prst="rect">
            <a:avLst/>
          </a:prstGeom>
          <a:solidFill>
            <a:srgbClr val="ECF0F1"/>
          </a:solidFill>
          <a:ln/>
        </p:spPr>
        <p:txBody>
          <a:bodyPr/>
          <a:lstStyle/>
          <a:p>
            <a:endParaRPr lang="en-PT"/>
          </a:p>
        </p:txBody>
      </p:sp>
      <p:sp>
        <p:nvSpPr>
          <p:cNvPr id="38" name="Text 36"/>
          <p:cNvSpPr/>
          <p:nvPr/>
        </p:nvSpPr>
        <p:spPr>
          <a:xfrm>
            <a:off x="502920" y="3794760"/>
            <a:ext cx="13716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0000"/>
                </a:solidFill>
              </a:rPr>
              <a:t>Query Language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2103120" y="3749040"/>
            <a:ext cx="2743200" cy="393192"/>
          </a:xfrm>
          <a:prstGeom prst="rect">
            <a:avLst/>
          </a:prstGeom>
          <a:solidFill>
            <a:srgbClr val="ECF0F1"/>
          </a:solidFill>
          <a:ln/>
        </p:spPr>
        <p:txBody>
          <a:bodyPr/>
          <a:lstStyle/>
          <a:p>
            <a:endParaRPr lang="en-PT"/>
          </a:p>
        </p:txBody>
      </p:sp>
      <p:sp>
        <p:nvSpPr>
          <p:cNvPr id="40" name="Text 38"/>
          <p:cNvSpPr/>
          <p:nvPr/>
        </p:nvSpPr>
        <p:spPr>
          <a:xfrm>
            <a:off x="2194560" y="3794760"/>
            <a:ext cx="25603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</a:rPr>
              <a:t>SQL (standard)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5029200" y="3749040"/>
            <a:ext cx="2743200" cy="393192"/>
          </a:xfrm>
          <a:prstGeom prst="rect">
            <a:avLst/>
          </a:prstGeom>
          <a:solidFill>
            <a:srgbClr val="ECF0F1"/>
          </a:solidFill>
          <a:ln/>
        </p:spPr>
        <p:txBody>
          <a:bodyPr/>
          <a:lstStyle/>
          <a:p>
            <a:endParaRPr lang="en-PT"/>
          </a:p>
        </p:txBody>
      </p:sp>
      <p:sp>
        <p:nvSpPr>
          <p:cNvPr id="42" name="Text 40"/>
          <p:cNvSpPr/>
          <p:nvPr/>
        </p:nvSpPr>
        <p:spPr>
          <a:xfrm>
            <a:off x="5120640" y="3794760"/>
            <a:ext cx="25603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</a:rPr>
              <a:t>Varies by database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solidFill>
            <a:srgbClr val="2C3E5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</a:rPr>
              <a:t>When to Use SQL Databases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097280"/>
            <a:ext cx="7772400" cy="548640"/>
          </a:xfrm>
          <a:prstGeom prst="rect">
            <a:avLst/>
          </a:prstGeom>
          <a:solidFill>
            <a:srgbClr val="27AE60"/>
          </a:solidFill>
          <a:ln/>
        </p:spPr>
        <p:txBody>
          <a:bodyPr/>
          <a:lstStyle/>
          <a:p>
            <a:endParaRPr lang="en-PT"/>
          </a:p>
        </p:txBody>
      </p:sp>
      <p:sp>
        <p:nvSpPr>
          <p:cNvPr id="4" name="Text 2"/>
          <p:cNvSpPr/>
          <p:nvPr/>
        </p:nvSpPr>
        <p:spPr>
          <a:xfrm>
            <a:off x="640080" y="114300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Choose SQL when you need: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914400" y="1828800"/>
            <a:ext cx="73152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600" dirty="0">
                <a:solidFill>
                  <a:srgbClr val="000000"/>
                </a:solidFill>
              </a:rPr>
              <a:t>✅ Complex queries with JOINs across multiple tables</a:t>
            </a:r>
            <a:endParaRPr lang="en-US" sz="1600" dirty="0"/>
          </a:p>
          <a:p>
            <a:pPr marL="0" indent="0">
              <a:lnSpc>
                <a:spcPts val="1600"/>
              </a:lnSpc>
              <a:buNone/>
            </a:pPr>
            <a:endParaRPr lang="en-US" sz="160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600" dirty="0">
                <a:solidFill>
                  <a:srgbClr val="000000"/>
                </a:solidFill>
              </a:rPr>
              <a:t>✅ ACID transactions (banking, e-commerce, bookings)</a:t>
            </a:r>
            <a:endParaRPr lang="en-US" sz="1600" dirty="0"/>
          </a:p>
          <a:p>
            <a:pPr marL="0" indent="0">
              <a:lnSpc>
                <a:spcPts val="1600"/>
              </a:lnSpc>
              <a:buNone/>
            </a:pPr>
            <a:endParaRPr lang="en-US" sz="160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600" dirty="0">
                <a:solidFill>
                  <a:srgbClr val="000000"/>
                </a:solidFill>
              </a:rPr>
              <a:t>✅ Data integrity and consistency are critical</a:t>
            </a:r>
            <a:endParaRPr lang="en-US" sz="1600" dirty="0"/>
          </a:p>
          <a:p>
            <a:pPr marL="0" indent="0">
              <a:lnSpc>
                <a:spcPts val="1600"/>
              </a:lnSpc>
              <a:buNone/>
            </a:pPr>
            <a:endParaRPr lang="en-US" sz="160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600" dirty="0">
                <a:solidFill>
                  <a:srgbClr val="000000"/>
                </a:solidFill>
              </a:rPr>
              <a:t>✅ Well-defined schema that doesn't change often</a:t>
            </a:r>
            <a:endParaRPr lang="en-US" sz="1600" dirty="0"/>
          </a:p>
          <a:p>
            <a:pPr marL="0" indent="0">
              <a:lnSpc>
                <a:spcPts val="1600"/>
              </a:lnSpc>
              <a:buNone/>
            </a:pPr>
            <a:endParaRPr lang="en-US" sz="160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600" dirty="0">
                <a:solidFill>
                  <a:srgbClr val="000000"/>
                </a:solidFill>
              </a:rPr>
              <a:t>✅ Reporting and analytics with aggregations</a:t>
            </a:r>
            <a:endParaRPr lang="en-US" sz="1600" dirty="0"/>
          </a:p>
          <a:p>
            <a:pPr marL="0" indent="0">
              <a:lnSpc>
                <a:spcPts val="1600"/>
              </a:lnSpc>
              <a:buNone/>
            </a:pPr>
            <a:endParaRPr lang="en-US" sz="160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600" dirty="0">
                <a:solidFill>
                  <a:srgbClr val="000000"/>
                </a:solidFill>
              </a:rPr>
              <a:t>✅ Historical data that needs to be queried flexibly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solidFill>
            <a:srgbClr val="2C3E5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</a:rPr>
              <a:t>When to Use NoSQL Databases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097280"/>
            <a:ext cx="7772400" cy="548640"/>
          </a:xfrm>
          <a:prstGeom prst="rect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en-PT"/>
          </a:p>
        </p:txBody>
      </p:sp>
      <p:sp>
        <p:nvSpPr>
          <p:cNvPr id="4" name="Text 2"/>
          <p:cNvSpPr/>
          <p:nvPr/>
        </p:nvSpPr>
        <p:spPr>
          <a:xfrm>
            <a:off x="640080" y="114300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Choose NoSQL when you need: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914400" y="1828800"/>
            <a:ext cx="73152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600" dirty="0">
                <a:solidFill>
                  <a:srgbClr val="000000"/>
                </a:solidFill>
              </a:rPr>
              <a:t>✅ Flexible schema that changes frequently</a:t>
            </a:r>
            <a:endParaRPr lang="en-US" sz="1600" dirty="0"/>
          </a:p>
          <a:p>
            <a:pPr marL="0" indent="0">
              <a:lnSpc>
                <a:spcPts val="1600"/>
              </a:lnSpc>
              <a:buNone/>
            </a:pPr>
            <a:endParaRPr lang="en-US" sz="160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600" dirty="0">
                <a:solidFill>
                  <a:srgbClr val="000000"/>
                </a:solidFill>
              </a:rPr>
              <a:t>✅ Massive scale across many servers (horizontal scaling)</a:t>
            </a:r>
            <a:endParaRPr lang="en-US" sz="1600" dirty="0"/>
          </a:p>
          <a:p>
            <a:pPr marL="0" indent="0">
              <a:lnSpc>
                <a:spcPts val="1600"/>
              </a:lnSpc>
              <a:buNone/>
            </a:pPr>
            <a:endParaRPr lang="en-US" sz="160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600" dirty="0">
                <a:solidFill>
                  <a:srgbClr val="000000"/>
                </a:solidFill>
              </a:rPr>
              <a:t>✅ High write throughput (IoT sensors, logs, events)</a:t>
            </a:r>
            <a:endParaRPr lang="en-US" sz="1600" dirty="0"/>
          </a:p>
          <a:p>
            <a:pPr marL="0" indent="0">
              <a:lnSpc>
                <a:spcPts val="1600"/>
              </a:lnSpc>
              <a:buNone/>
            </a:pPr>
            <a:endParaRPr lang="en-US" sz="160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600" dirty="0">
                <a:solidFill>
                  <a:srgbClr val="000000"/>
                </a:solidFill>
              </a:rPr>
              <a:t>✅ Hierarchical data naturally fits documents</a:t>
            </a:r>
            <a:endParaRPr lang="en-US" sz="1600" dirty="0"/>
          </a:p>
          <a:p>
            <a:pPr marL="0" indent="0">
              <a:lnSpc>
                <a:spcPts val="1600"/>
              </a:lnSpc>
              <a:buNone/>
            </a:pPr>
            <a:endParaRPr lang="en-US" sz="160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600" dirty="0">
                <a:solidFill>
                  <a:srgbClr val="000000"/>
                </a:solidFill>
              </a:rPr>
              <a:t>✅ Fast key-based lookups (caching, sessions)</a:t>
            </a:r>
            <a:endParaRPr lang="en-US" sz="1600" dirty="0"/>
          </a:p>
          <a:p>
            <a:pPr marL="0" indent="0">
              <a:lnSpc>
                <a:spcPts val="1600"/>
              </a:lnSpc>
              <a:buNone/>
            </a:pPr>
            <a:endParaRPr lang="en-US" sz="160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600" dirty="0">
                <a:solidFill>
                  <a:srgbClr val="000000"/>
                </a:solidFill>
              </a:rPr>
              <a:t>✅ Graph relationships (social networks, recommendations)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solidFill>
            <a:srgbClr val="2C3E5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</a:rPr>
              <a:t>DuckDB: Our Choice for Today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914400" y="1097280"/>
            <a:ext cx="7315200" cy="731520"/>
          </a:xfrm>
          <a:prstGeom prst="rect">
            <a:avLst/>
          </a:prstGeom>
          <a:solidFill>
            <a:srgbClr val="3498DB"/>
          </a:solidFill>
          <a:ln/>
        </p:spPr>
        <p:txBody>
          <a:bodyPr/>
          <a:lstStyle/>
          <a:p>
            <a:endParaRPr lang="en-PT"/>
          </a:p>
        </p:txBody>
      </p:sp>
      <p:sp>
        <p:nvSpPr>
          <p:cNvPr id="4" name="Text 2"/>
          <p:cNvSpPr/>
          <p:nvPr/>
        </p:nvSpPr>
        <p:spPr>
          <a:xfrm>
            <a:off x="914400" y="11887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🦆 DuckDB = "SQLite for Analytics"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914400" y="15087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</a:rPr>
              <a:t>In-process SQL OLAP database management system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21031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C3E50"/>
                </a:solidFill>
              </a:rPr>
              <a:t>Why DuckDB?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22960" y="2468880"/>
            <a:ext cx="3657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• Fast Analytics: Optimized for analytical queries</a:t>
            </a:r>
            <a:endParaRPr lang="en-US" sz="1400" dirty="0"/>
          </a:p>
          <a:p>
            <a:pPr marL="0" indent="0">
              <a:lnSpc>
                <a:spcPts val="2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• No Server: Embedded, zero setup</a:t>
            </a:r>
            <a:endParaRPr lang="en-US" sz="1400" dirty="0"/>
          </a:p>
          <a:p>
            <a:pPr marL="0" indent="0">
              <a:lnSpc>
                <a:spcPts val="2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• SQL Standard: Learn real SQL</a:t>
            </a:r>
            <a:endParaRPr lang="en-US" sz="1400" dirty="0"/>
          </a:p>
          <a:p>
            <a:pPr marL="0" indent="0">
              <a:lnSpc>
                <a:spcPts val="2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• Columnar Storage: Perfect for aggregations</a:t>
            </a:r>
            <a:endParaRPr lang="en-US" sz="1400" dirty="0"/>
          </a:p>
          <a:p>
            <a:pPr marL="0" indent="0">
              <a:lnSpc>
                <a:spcPts val="2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• Works with Python: Easy integration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754880" y="2103120"/>
            <a:ext cx="3657600" cy="2011680"/>
          </a:xfrm>
          <a:prstGeom prst="rect">
            <a:avLst/>
          </a:prstGeom>
          <a:solidFill>
            <a:srgbClr val="ECF0F1"/>
          </a:solidFill>
          <a:ln/>
        </p:spPr>
        <p:txBody>
          <a:bodyPr/>
          <a:lstStyle/>
          <a:p>
            <a:endParaRPr lang="en-PT"/>
          </a:p>
        </p:txBody>
      </p:sp>
      <p:sp>
        <p:nvSpPr>
          <p:cNvPr id="9" name="Text 7"/>
          <p:cNvSpPr/>
          <p:nvPr/>
        </p:nvSpPr>
        <p:spPr>
          <a:xfrm>
            <a:off x="4846320" y="219456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C3E50"/>
                </a:solidFill>
              </a:rPr>
              <a:t>Perfect for: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937760" y="2560320"/>
            <a:ext cx="32918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000000"/>
                </a:solidFill>
              </a:rPr>
              <a:t>• Data analysis and exploration</a:t>
            </a:r>
            <a:endParaRPr lang="en-US" sz="13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000000"/>
                </a:solidFill>
              </a:rPr>
              <a:t>• Learning SQL</a:t>
            </a:r>
            <a:endParaRPr lang="en-US" sz="13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000000"/>
                </a:solidFill>
              </a:rPr>
              <a:t>• Processing CSV/Parquet files</a:t>
            </a:r>
            <a:endParaRPr lang="en-US" sz="13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000000"/>
                </a:solidFill>
              </a:rPr>
              <a:t>• Ad-hoc queries</a:t>
            </a:r>
            <a:endParaRPr lang="en-US" sz="13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000000"/>
                </a:solidFill>
              </a:rPr>
              <a:t>• Local data science work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solidFill>
            <a:srgbClr val="2C3E5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</a:rPr>
              <a:t>Summary: Key Takeaways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097280"/>
            <a:ext cx="7772400" cy="548640"/>
          </a:xfrm>
          <a:prstGeom prst="rect">
            <a:avLst/>
          </a:prstGeom>
          <a:solidFill>
            <a:srgbClr val="34495E"/>
          </a:solidFill>
          <a:ln/>
        </p:spPr>
        <p:txBody>
          <a:bodyPr/>
          <a:lstStyle/>
          <a:p>
            <a:endParaRPr lang="en-PT"/>
          </a:p>
        </p:txBody>
      </p:sp>
      <p:sp>
        <p:nvSpPr>
          <p:cNvPr id="4" name="Text 2"/>
          <p:cNvSpPr/>
          <p:nvPr/>
        </p:nvSpPr>
        <p:spPr>
          <a:xfrm>
            <a:off x="640080" y="114300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Databases are the foundation of modern applications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914400" y="1920240"/>
            <a:ext cx="73152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700" dirty="0">
                <a:solidFill>
                  <a:srgbClr val="000000"/>
                </a:solidFill>
              </a:rPr>
              <a:t>📊 SQL (Relational): Structured, ACID, complex queries</a:t>
            </a:r>
            <a:endParaRPr lang="en-US" sz="1700" dirty="0"/>
          </a:p>
          <a:p>
            <a:pPr marL="0" indent="0">
              <a:lnSpc>
                <a:spcPts val="1800"/>
              </a:lnSpc>
              <a:buNone/>
            </a:pPr>
            <a:endParaRPr lang="en-US" sz="17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700" dirty="0">
                <a:solidFill>
                  <a:srgbClr val="000000"/>
                </a:solidFill>
              </a:rPr>
              <a:t>📄 NoSQL: Flexible, scalable, various models</a:t>
            </a:r>
            <a:endParaRPr lang="en-US" sz="1700" dirty="0"/>
          </a:p>
          <a:p>
            <a:pPr marL="0" indent="0">
              <a:lnSpc>
                <a:spcPts val="1800"/>
              </a:lnSpc>
              <a:buNone/>
            </a:pPr>
            <a:endParaRPr lang="en-US" sz="17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700" dirty="0">
                <a:solidFill>
                  <a:srgbClr val="000000"/>
                </a:solidFill>
              </a:rPr>
              <a:t>🎯 Choose based on needs: No one-size-fits-all</a:t>
            </a:r>
            <a:endParaRPr lang="en-US" sz="1700" dirty="0"/>
          </a:p>
          <a:p>
            <a:pPr marL="0" indent="0">
              <a:lnSpc>
                <a:spcPts val="1800"/>
              </a:lnSpc>
              <a:buNone/>
            </a:pPr>
            <a:endParaRPr lang="en-US" sz="17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700" dirty="0">
                <a:solidFill>
                  <a:srgbClr val="000000"/>
                </a:solidFill>
              </a:rPr>
              <a:t>🦆 Today: DuckDB - Perfect for learning SQL and analytics</a:t>
            </a:r>
            <a:endParaRPr lang="en-US" sz="1700" dirty="0"/>
          </a:p>
          <a:p>
            <a:pPr marL="0" indent="0">
              <a:lnSpc>
                <a:spcPts val="1800"/>
              </a:lnSpc>
              <a:buNone/>
            </a:pPr>
            <a:endParaRPr lang="en-US" sz="17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700" dirty="0">
                <a:solidFill>
                  <a:srgbClr val="000000"/>
                </a:solidFill>
              </a:rPr>
              <a:t>💡 Master SQL first - Foundation for all databases</a:t>
            </a:r>
            <a:endParaRPr lang="en-US" sz="17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solidFill>
            <a:srgbClr val="2C3E5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</a:rPr>
              <a:t>Ready to Learn SQL?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3657600" y="118872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400" dirty="0">
                <a:solidFill>
                  <a:srgbClr val="000000"/>
                </a:solidFill>
              </a:rPr>
              <a:t>🚀</a:t>
            </a:r>
            <a:endParaRPr lang="en-US" sz="6400" dirty="0"/>
          </a:p>
        </p:txBody>
      </p:sp>
      <p:sp>
        <p:nvSpPr>
          <p:cNvPr id="4" name="Text 2"/>
          <p:cNvSpPr/>
          <p:nvPr/>
        </p:nvSpPr>
        <p:spPr>
          <a:xfrm>
            <a:off x="1371600" y="210312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2C3E50"/>
                </a:solidFill>
              </a:rPr>
              <a:t>Let’s query!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1371600" y="2834640"/>
            <a:ext cx="6400800" cy="640080"/>
          </a:xfrm>
          <a:prstGeom prst="rect">
            <a:avLst/>
          </a:prstGeom>
          <a:solidFill>
            <a:srgbClr val="3498DB"/>
          </a:solidFill>
          <a:ln/>
        </p:spPr>
        <p:txBody>
          <a:bodyPr/>
          <a:lstStyle/>
          <a:p>
            <a:endParaRPr lang="en-PT"/>
          </a:p>
        </p:txBody>
      </p:sp>
      <p:sp>
        <p:nvSpPr>
          <p:cNvPr id="6" name="Text 4"/>
          <p:cNvSpPr/>
          <p:nvPr/>
        </p:nvSpPr>
        <p:spPr>
          <a:xfrm>
            <a:off x="1371600" y="292608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FFFFFF"/>
                </a:solidFill>
              </a:rPr>
              <a:t>Today you'll learn SQL with real NYC Taxi data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371600" y="374904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2C3E50"/>
                </a:solidFill>
              </a:rPr>
              <a:t>Questions before we begin?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7ccbc8bc-c676-423d-922c-14624d98425d}" enabled="1" method="Standard" siteId="{61f30b8e-4f6b-44fe-9bc2-041e3a9f7346}" contentBits="2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731</Words>
  <Application>Microsoft Macintosh PowerPoint</Application>
  <PresentationFormat>On-screen Show (16:9)</PresentationFormat>
  <Paragraphs>168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Aptos</vt:lpstr>
      <vt:lpstr>Arial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Databases - SQL vs NoSQL</dc:title>
  <dc:subject>Database Fundamentals for Data Engineers</dc:subject>
  <dc:creator>Data Academy Team</dc:creator>
  <cp:lastModifiedBy>José Vieira Costa</cp:lastModifiedBy>
  <cp:revision>2</cp:revision>
  <dcterms:created xsi:type="dcterms:W3CDTF">2026-01-06T16:17:45Z</dcterms:created>
  <dcterms:modified xsi:type="dcterms:W3CDTF">2026-02-09T08:12:33Z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ContentMarkingFooterLocations">
    <vt:lpwstr>Office Theme:3</vt:lpwstr>
  </property>
  <property fmtid="{D5CDD505-2E9C-101B-9397-08002B2CF9AE}" pid="3" name="ClassificationContentMarkingFooterText">
    <vt:lpwstr>Classification Level: CTW Internal</vt:lpwstr>
  </property>
</Properties>
</file>